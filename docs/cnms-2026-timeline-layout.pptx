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Timeline Spine"/>
          <p:cNvCxnSpPr/>
          <p:nvPr/>
        </p:nvCxnSpPr>
        <p:spPr>
          <a:xfrm>
            <a:off x="365760" y="5806440"/>
            <a:ext cx="11567160" cy="0"/>
          </a:xfrm>
          <a:prstGeom prst="line">
            <a:avLst/>
          </a:prstGeom>
          <a:ln w="38100" cap="rnd">
            <a:solidFill>
              <a:srgbClr val="0E284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meline Node 1"/>
          <p:cNvSpPr/>
          <p:nvPr/>
        </p:nvSpPr>
        <p:spPr>
          <a:xfrm>
            <a:off x="1082040" y="5669280"/>
            <a:ext cx="274320" cy="274320"/>
          </a:xfrm>
          <a:prstGeom prst="ellipse">
            <a:avLst/>
          </a:prstGeom>
          <a:solidFill>
            <a:srgbClr val="1560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meline Label 1"/>
          <p:cNvSpPr txBox="1"/>
          <p:nvPr/>
        </p:nvSpPr>
        <p:spPr>
          <a:xfrm>
            <a:off x="53340" y="6172200"/>
            <a:ext cx="2331720" cy="621792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</a:rPr>
              <a:t>Line completion /</a:t>
            </a:r>
          </a:p>
          <a:p>
            <a:pPr algn="ctr"/>
            <a:r>
              <a:rPr sz="1100" b="1">
                <a:solidFill>
                  <a:srgbClr val="0E2841"/>
                </a:solidFill>
              </a:rPr>
              <a:t>multi-line edits</a:t>
            </a:r>
          </a:p>
          <a:p>
            <a:pPr algn="ctr"/>
            <a:r>
              <a:rPr sz="900" i="1">
                <a:solidFill>
                  <a:srgbClr val="595959"/>
                </a:solidFill>
              </a:rPr>
              <a:t>IntelliCode-style smart complete</a:t>
            </a:r>
          </a:p>
        </p:txBody>
      </p:sp>
      <p:sp>
        <p:nvSpPr>
          <p:cNvPr id="8" name="Timeline Node 2"/>
          <p:cNvSpPr/>
          <p:nvPr/>
        </p:nvSpPr>
        <p:spPr>
          <a:xfrm>
            <a:off x="3483864" y="5632704"/>
            <a:ext cx="347472" cy="347472"/>
          </a:xfrm>
          <a:prstGeom prst="ellipse">
            <a:avLst/>
          </a:prstGeom>
          <a:solidFill>
            <a:srgbClr val="1560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meline Label 2"/>
          <p:cNvSpPr txBox="1"/>
          <p:nvPr/>
        </p:nvSpPr>
        <p:spPr>
          <a:xfrm>
            <a:off x="2491740" y="6172200"/>
            <a:ext cx="2331720" cy="621792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</a:rPr>
              <a:t>GitHub Copilot Chat</a:t>
            </a:r>
          </a:p>
        </p:txBody>
      </p:sp>
      <p:sp>
        <p:nvSpPr>
          <p:cNvPr id="10" name="Timeline Node 3"/>
          <p:cNvSpPr/>
          <p:nvPr/>
        </p:nvSpPr>
        <p:spPr>
          <a:xfrm>
            <a:off x="5885688" y="5596128"/>
            <a:ext cx="420624" cy="420624"/>
          </a:xfrm>
          <a:prstGeom prst="ellipse">
            <a:avLst/>
          </a:prstGeom>
          <a:solidFill>
            <a:srgbClr val="1560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meline Label 3"/>
          <p:cNvSpPr txBox="1"/>
          <p:nvPr/>
        </p:nvSpPr>
        <p:spPr>
          <a:xfrm>
            <a:off x="4930140" y="6172200"/>
            <a:ext cx="2331720" cy="621792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</a:rPr>
              <a:t>GitHub Copilot Cloud Agent</a:t>
            </a:r>
          </a:p>
        </p:txBody>
      </p:sp>
      <p:sp>
        <p:nvSpPr>
          <p:cNvPr id="12" name="Timeline Node 4"/>
          <p:cNvSpPr/>
          <p:nvPr/>
        </p:nvSpPr>
        <p:spPr>
          <a:xfrm>
            <a:off x="8287512" y="5559552"/>
            <a:ext cx="493776" cy="493776"/>
          </a:xfrm>
          <a:prstGeom prst="ellipse">
            <a:avLst/>
          </a:prstGeom>
          <a:solidFill>
            <a:srgbClr val="15608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meline Label 4"/>
          <p:cNvSpPr txBox="1"/>
          <p:nvPr/>
        </p:nvSpPr>
        <p:spPr>
          <a:xfrm>
            <a:off x="7368540" y="6172200"/>
            <a:ext cx="2331720" cy="621792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</a:rPr>
              <a:t>GitHub Copilot CLI</a:t>
            </a:r>
          </a:p>
        </p:txBody>
      </p:sp>
      <p:sp>
        <p:nvSpPr>
          <p:cNvPr id="14" name="Timeline Node 5"/>
          <p:cNvSpPr/>
          <p:nvPr/>
        </p:nvSpPr>
        <p:spPr>
          <a:xfrm>
            <a:off x="10689336" y="5522976"/>
            <a:ext cx="566928" cy="566928"/>
          </a:xfrm>
          <a:prstGeom prst="ellipse">
            <a:avLst/>
          </a:prstGeom>
          <a:solidFill>
            <a:srgbClr val="E971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meline Label 5"/>
          <p:cNvSpPr txBox="1"/>
          <p:nvPr/>
        </p:nvSpPr>
        <p:spPr>
          <a:xfrm>
            <a:off x="9806940" y="6172200"/>
            <a:ext cx="2331720" cy="621792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</a:rPr>
              <a:t>Increasingly multi-agent,</a:t>
            </a:r>
          </a:p>
          <a:p>
            <a:pPr algn="ctr"/>
            <a:r>
              <a:rPr sz="1100" b="1">
                <a:solidFill>
                  <a:srgbClr val="0E2841"/>
                </a:solidFill>
              </a:rPr>
              <a:t>multi-tool workflows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m Node 2"/>
          <p:cNvSpPr/>
          <p:nvPr/>
        </p:nvSpPr>
        <p:spPr>
          <a:xfrm>
            <a:off x="2438400" y="5440680"/>
            <a:ext cx="2438400" cy="14173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m Node 3"/>
          <p:cNvSpPr/>
          <p:nvPr/>
        </p:nvSpPr>
        <p:spPr>
          <a:xfrm>
            <a:off x="4876800" y="5440680"/>
            <a:ext cx="2438400" cy="14173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m Node 4"/>
          <p:cNvSpPr/>
          <p:nvPr/>
        </p:nvSpPr>
        <p:spPr>
          <a:xfrm>
            <a:off x="7315200" y="5440680"/>
            <a:ext cx="2438400" cy="14173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m Node 5"/>
          <p:cNvSpPr/>
          <p:nvPr/>
        </p:nvSpPr>
        <p:spPr>
          <a:xfrm>
            <a:off x="9753600" y="5440680"/>
            <a:ext cx="2438400" cy="1417320"/>
          </a:xfrm>
          <a:prstGeom prst="rect">
            <a:avLst/>
          </a:prstGeom>
          <a:solidFill>
            <a:srgbClr val="FFFFF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mple note"/>
          <p:cNvSpPr txBox="1"/>
          <p:nvPr/>
        </p:nvSpPr>
        <p:spPr>
          <a:xfrm>
            <a:off x="365760" y="22860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Example: Timeline layout + 72%-white overlays dimming nodes 2-5. Duplicate, shift overlays, add your GIF. Safe to delete.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